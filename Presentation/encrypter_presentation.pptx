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23"/>
  </p:notesMasterIdLst>
  <p:handoutMasterIdLst>
    <p:handoutMasterId r:id="rId24"/>
  </p:handoutMasterIdLst>
  <p:sldIdLst>
    <p:sldId id="257" r:id="rId2"/>
    <p:sldId id="265" r:id="rId3"/>
    <p:sldId id="258" r:id="rId4"/>
    <p:sldId id="259" r:id="rId5"/>
    <p:sldId id="276" r:id="rId6"/>
    <p:sldId id="263" r:id="rId7"/>
    <p:sldId id="277" r:id="rId8"/>
    <p:sldId id="260" r:id="rId9"/>
    <p:sldId id="272" r:id="rId10"/>
    <p:sldId id="273" r:id="rId11"/>
    <p:sldId id="274" r:id="rId12"/>
    <p:sldId id="264" r:id="rId13"/>
    <p:sldId id="275" r:id="rId14"/>
    <p:sldId id="267" r:id="rId15"/>
    <p:sldId id="266" r:id="rId16"/>
    <p:sldId id="261" r:id="rId17"/>
    <p:sldId id="262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441" autoAdjust="0"/>
    <p:restoredTop sz="94660"/>
  </p:normalViewPr>
  <p:slideViewPr>
    <p:cSldViewPr>
      <p:cViewPr varScale="1">
        <p:scale>
          <a:sx n="73" d="100"/>
          <a:sy n="73" d="100"/>
        </p:scale>
        <p:origin x="-1302" y="-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B901F0-90B6-4943-A931-3430863D3448}" type="datetimeFigureOut">
              <a:rPr lang="en-US" smtClean="0"/>
              <a:pPr/>
              <a:t>8/16/2013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3A1B24-489E-434D-B743-D1C8AEC0F57E}" type="slidenum">
              <a:rPr lang="en-IN" smtClean="0"/>
              <a:pPr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AD4A3E-5D8B-4B78-95FA-BFCFF47D520E}" type="datetimeFigureOut">
              <a:rPr lang="en-US" smtClean="0"/>
              <a:pPr/>
              <a:t>8/16/2013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9AE6D0-6A0E-489B-B6A0-4A22DFB212B3}" type="slidenum">
              <a:rPr lang="en-IN" smtClean="0"/>
              <a:pPr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9AE6D0-6A0E-489B-B6A0-4A22DFB212B3}" type="slidenum">
              <a:rPr lang="en-IN" smtClean="0"/>
              <a:pPr/>
              <a:t>1</a:t>
            </a:fld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fld id="{735358D6-9A32-466A-B94E-10F829194B3F}" type="datetime1">
              <a:rPr lang="en-US" smtClean="0"/>
              <a:pPr/>
              <a:t>8/16/2013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FA839ED-5753-4BD0-A591-71944F317FB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B4632-D8FB-4991-A531-5C4B0E1EE79F}" type="datetime1">
              <a:rPr lang="en-US" smtClean="0"/>
              <a:pPr/>
              <a:t>8/16/2013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AFA839ED-5753-4BD0-A591-71944F317FB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Rectangle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0F7C2-55C3-4387-BD65-AF8FD5C80CFE}" type="datetime1">
              <a:rPr lang="en-US" smtClean="0"/>
              <a:pPr/>
              <a:t>8/16/2013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AFA839ED-5753-4BD0-A591-71944F317FB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2923C710-503E-4F69-965C-3C446F87F41D}" type="datetime1">
              <a:rPr lang="en-US" smtClean="0"/>
              <a:pPr/>
              <a:t>8/16/2013</a:t>
            </a:fld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AFA839ED-5753-4BD0-A591-71944F317FB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F1ED369A-1BC0-42D0-8815-73634A496310}" type="datetime1">
              <a:rPr lang="en-US" smtClean="0"/>
              <a:pPr/>
              <a:t>8/16/2013</a:t>
            </a:fld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AFA839ED-5753-4BD0-A591-71944F317FB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FA40D-B88A-4B05-ABC2-4DB779BEF053}" type="datetime1">
              <a:rPr lang="en-US" smtClean="0"/>
              <a:pPr/>
              <a:t>8/16/2013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AFA839ED-5753-4BD0-A591-71944F317FB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055E9-5299-49F4-BA54-4AD26C28679F}" type="datetime1">
              <a:rPr lang="en-US" smtClean="0"/>
              <a:pPr/>
              <a:t>8/16/2013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FA839ED-5753-4BD0-A591-71944F317FB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1BD27-298D-44EF-95D5-C7EC63CE137D}" type="datetime1">
              <a:rPr lang="en-US" smtClean="0"/>
              <a:pPr/>
              <a:t>8/16/2013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AFA839ED-5753-4BD0-A591-71944F317FB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Rectangle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1" name="Rectangle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/>
          <a:p>
            <a:fld id="{F0535471-38BF-4F21-B557-093D669D920C}" type="datetime1">
              <a:rPr lang="en-US" smtClean="0"/>
              <a:pPr/>
              <a:t>8/16/2013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AFA839ED-5753-4BD0-A591-71944F317FB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</p:spPr>
        <p:txBody>
          <a:bodyPr rtlCol="0"/>
          <a:lstStyle/>
          <a:p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3C243-7598-4674-B0E2-6C4B2FC61A9C}" type="datetime1">
              <a:rPr lang="en-US" smtClean="0"/>
              <a:pPr/>
              <a:t>8/16/2013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839ED-5753-4BD0-A591-71944F317FB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</p:spPr>
        <p:txBody>
          <a:bodyPr/>
          <a:lstStyle/>
          <a:p>
            <a:fld id="{F1088E8B-7907-41E0-9252-0F84BBD31EFF}" type="datetime1">
              <a:rPr lang="en-US" smtClean="0"/>
              <a:pPr/>
              <a:t>8/16/2013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AFA839ED-5753-4BD0-A591-71944F317FB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F0C48575-C5A3-439E-9594-B81CBD06DAF1}" type="datetime1">
              <a:rPr lang="en-US" smtClean="0"/>
              <a:pPr/>
              <a:t>8/16/2013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Rectangle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AFA839ED-5753-4BD0-A591-71944F317FB0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://www.w3schools.com/" TargetMode="External"/><Relationship Id="rId2" Type="http://schemas.openxmlformats.org/officeDocument/2006/relationships/hyperlink" Target="http://en.wikipedia.org/wiki/RSA_(algorithm)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www.stackoverflow.com/" TargetMode="Externa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6000" b="1" u="sng" dirty="0" smtClean="0">
                <a:solidFill>
                  <a:schemeClr val="accent2">
                    <a:lumMod val="75000"/>
                  </a:schemeClr>
                </a:solidFill>
                <a:latin typeface="Algerian" pitchFamily="82" charset="0"/>
                <a:cs typeface="Aparajita" pitchFamily="34" charset="0"/>
              </a:rPr>
              <a:t>A</a:t>
            </a:r>
            <a:r>
              <a:rPr lang="en-US" sz="6000" b="1" u="sng" dirty="0" smtClean="0">
                <a:solidFill>
                  <a:schemeClr val="accent2">
                    <a:lumMod val="75000"/>
                  </a:schemeClr>
                </a:solidFill>
                <a:latin typeface="Algerian" pitchFamily="82" charset="0"/>
                <a:cs typeface="Aparajita" pitchFamily="34" charset="0"/>
              </a:rPr>
              <a:t> </a:t>
            </a:r>
            <a:r>
              <a:rPr lang="en-US" sz="6000" b="1" u="sng" dirty="0" smtClean="0">
                <a:solidFill>
                  <a:schemeClr val="accent2">
                    <a:lumMod val="75000"/>
                  </a:schemeClr>
                </a:solidFill>
                <a:latin typeface="Algerian" pitchFamily="82" charset="0"/>
                <a:cs typeface="Aparajita" pitchFamily="34" charset="0"/>
              </a:rPr>
              <a:t>PROJECT 0N</a:t>
            </a:r>
            <a:endParaRPr lang="en-US" sz="6000" b="1" u="sng" dirty="0">
              <a:solidFill>
                <a:schemeClr val="accent2">
                  <a:lumMod val="75000"/>
                </a:schemeClr>
              </a:solidFill>
              <a:latin typeface="Algerian" pitchFamily="82" charset="0"/>
              <a:cs typeface="Aparajita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0" y="1524000"/>
            <a:ext cx="9144000" cy="5334000"/>
          </a:xfrm>
        </p:spPr>
        <p:txBody>
          <a:bodyPr/>
          <a:lstStyle/>
          <a:p>
            <a:pPr algn="ctr">
              <a:buNone/>
            </a:pPr>
            <a:r>
              <a:rPr lang="en-US" sz="7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itchFamily="18" charset="-34"/>
                <a:cs typeface="Angsana New" pitchFamily="18" charset="-34"/>
              </a:rPr>
              <a:t>ENCRYPTER</a:t>
            </a:r>
            <a:endParaRPr lang="en-US" sz="72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ngsana New" pitchFamily="18" charset="-34"/>
              <a:cs typeface="Angsana New" pitchFamily="18" charset="-34"/>
            </a:endParaRPr>
          </a:p>
          <a:p>
            <a:pPr>
              <a:buNone/>
            </a:pPr>
            <a:endParaRPr lang="en-US" sz="7200" b="1" dirty="0" smtClean="0"/>
          </a:p>
          <a:p>
            <a:pPr>
              <a:buNone/>
            </a:pPr>
            <a:r>
              <a:rPr lang="en-US" sz="2400" b="1" dirty="0" smtClean="0"/>
              <a:t>Submitted To:						Submitted by:</a:t>
            </a:r>
          </a:p>
          <a:p>
            <a:pPr>
              <a:buNone/>
            </a:pPr>
            <a:r>
              <a:rPr lang="en-US" sz="1800" dirty="0" smtClean="0"/>
              <a:t>Miss</a:t>
            </a:r>
            <a:r>
              <a:rPr lang="en-US" sz="1800" dirty="0" smtClean="0"/>
              <a:t>. Deepak </a:t>
            </a:r>
            <a:r>
              <a:rPr lang="en-US" sz="1800" dirty="0" err="1" smtClean="0"/>
              <a:t>Garg</a:t>
            </a:r>
            <a:r>
              <a:rPr lang="en-US" sz="1800" dirty="0" smtClean="0"/>
              <a:t>	</a:t>
            </a:r>
            <a:r>
              <a:rPr lang="en-US" sz="2400" dirty="0" smtClean="0"/>
              <a:t>			 </a:t>
            </a:r>
            <a:r>
              <a:rPr lang="en-US" sz="1800" dirty="0" smtClean="0"/>
              <a:t> </a:t>
            </a:r>
            <a:r>
              <a:rPr lang="en-US" sz="1800" dirty="0" smtClean="0"/>
              <a:t>	 </a:t>
            </a:r>
            <a:r>
              <a:rPr lang="en-US" sz="1800" dirty="0" smtClean="0"/>
              <a:t>	Mohit Goyal</a:t>
            </a:r>
            <a:endParaRPr lang="en-US" sz="1800" dirty="0" smtClean="0"/>
          </a:p>
          <a:p>
            <a:pPr>
              <a:buNone/>
            </a:pPr>
            <a:r>
              <a:rPr lang="en-US" sz="1800" dirty="0" smtClean="0"/>
              <a:t>						 	</a:t>
            </a:r>
            <a:endParaRPr lang="en-US" sz="4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ngsana New" pitchFamily="18" charset="-34"/>
              <a:cs typeface="Angsana New" pitchFamily="18" charset="-34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AFA839ED-5753-4BD0-A591-71944F317FB0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Algerian" pitchFamily="82" charset="0"/>
              </a:rPr>
              <a:t>content</a:t>
            </a:r>
            <a:endParaRPr lang="en-US" b="1" dirty="0">
              <a:latin typeface="Algerian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62500" lnSpcReduction="20000"/>
          </a:bodyPr>
          <a:lstStyle/>
          <a:p>
            <a:pPr>
              <a:buFont typeface="Wingdings" pitchFamily="2" charset="2"/>
              <a:buChar char="Ø"/>
            </a:pPr>
            <a:r>
              <a:rPr lang="en-US" dirty="0" smtClean="0"/>
              <a:t>Aim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Introduction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RSA Algorithm</a:t>
            </a:r>
          </a:p>
          <a:p>
            <a:pPr lvl="2">
              <a:buFont typeface="Wingdings" pitchFamily="2" charset="2"/>
              <a:buChar char="q"/>
            </a:pPr>
            <a:r>
              <a:rPr lang="en-US" dirty="0" smtClean="0"/>
              <a:t>Working of RSA</a:t>
            </a:r>
            <a:endParaRPr lang="en-US" dirty="0" smtClean="0"/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Modules</a:t>
            </a:r>
          </a:p>
          <a:p>
            <a:pPr lvl="2">
              <a:buFont typeface="Wingdings" pitchFamily="2" charset="2"/>
              <a:buChar char="q"/>
            </a:pPr>
            <a:r>
              <a:rPr lang="en-US" dirty="0" smtClean="0"/>
              <a:t>Welcome</a:t>
            </a:r>
          </a:p>
          <a:p>
            <a:pPr lvl="2">
              <a:buFont typeface="Wingdings" pitchFamily="2" charset="2"/>
              <a:buChar char="q"/>
            </a:pPr>
            <a:r>
              <a:rPr lang="en-US" dirty="0" smtClean="0"/>
              <a:t>Generate</a:t>
            </a:r>
          </a:p>
          <a:p>
            <a:pPr lvl="2">
              <a:buFont typeface="Wingdings" pitchFamily="2" charset="2"/>
              <a:buChar char="q"/>
            </a:pPr>
            <a:r>
              <a:rPr lang="en-US" dirty="0" smtClean="0"/>
              <a:t>Encrypt</a:t>
            </a:r>
          </a:p>
          <a:p>
            <a:pPr lvl="2">
              <a:buFont typeface="Wingdings" pitchFamily="2" charset="2"/>
              <a:buChar char="q"/>
            </a:pPr>
            <a:r>
              <a:rPr lang="en-US" dirty="0" smtClean="0"/>
              <a:t>Decrypt</a:t>
            </a:r>
          </a:p>
          <a:p>
            <a:pPr lvl="2">
              <a:buFont typeface="Wingdings" pitchFamily="2" charset="2"/>
              <a:buChar char="q"/>
            </a:pPr>
            <a:r>
              <a:rPr lang="en-US" dirty="0" smtClean="0"/>
              <a:t>Help</a:t>
            </a:r>
            <a:endParaRPr lang="en-US" dirty="0" smtClean="0"/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Data Flow diagram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E-R diagram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System requirements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Technologies uses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Conclusion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References</a:t>
            </a: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AFA839ED-5753-4BD0-A591-71944F317FB0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Algerian" pitchFamily="82" charset="0"/>
              </a:rPr>
              <a:t>AIM</a:t>
            </a:r>
            <a:endParaRPr lang="en-US" b="1" dirty="0">
              <a:latin typeface="Algerian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Font typeface="Wingdings" pitchFamily="2" charset="2"/>
              <a:buChar char="q"/>
            </a:pPr>
            <a:r>
              <a:rPr lang="en-US" dirty="0" smtClean="0"/>
              <a:t>To create </a:t>
            </a:r>
            <a:r>
              <a:rPr lang="en-US" dirty="0" smtClean="0"/>
              <a:t>a platform independent desktop application, which can fulfill the task of encryption &amp; decryption of text.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AFA839ED-5753-4BD0-A591-71944F317FB0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Algerian" pitchFamily="82" charset="0"/>
              </a:rPr>
              <a:t>Introduction</a:t>
            </a:r>
            <a:endParaRPr lang="en-US" b="1" dirty="0">
              <a:latin typeface="Algerian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endParaRPr lang="en-US" dirty="0" smtClean="0"/>
          </a:p>
          <a:p>
            <a:pPr>
              <a:buFont typeface="Wingdings" pitchFamily="2" charset="2"/>
              <a:buChar char="q"/>
            </a:pPr>
            <a:r>
              <a:rPr lang="en-US" dirty="0" smtClean="0"/>
              <a:t> The main objective of the project is </a:t>
            </a:r>
            <a:r>
              <a:rPr lang="en-US" dirty="0" smtClean="0"/>
              <a:t>to create </a:t>
            </a:r>
            <a:r>
              <a:rPr lang="en-US" dirty="0" smtClean="0"/>
              <a:t>platform independent desktop application, which can fulfill the task of encryption &amp; decryption of text.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 </a:t>
            </a:r>
            <a:r>
              <a:rPr lang="en-US" dirty="0" smtClean="0"/>
              <a:t>In today's scenario every one of us have some secrets &amp; want privacy. Our application ‘</a:t>
            </a:r>
            <a:r>
              <a:rPr lang="en-US" i="1" dirty="0" smtClean="0"/>
              <a:t>Encrypter</a:t>
            </a:r>
            <a:r>
              <a:rPr lang="en-US" dirty="0" smtClean="0"/>
              <a:t>’ helps in maintaining the same.</a:t>
            </a:r>
          </a:p>
          <a:p>
            <a:endParaRPr lang="en-US" dirty="0" smtClean="0"/>
          </a:p>
          <a:p>
            <a:r>
              <a:rPr lang="en-US" dirty="0" smtClean="0"/>
              <a:t>By this application an user can easily encrypt a text message &amp; can share it with others without any loss of privacy.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AFA839ED-5753-4BD0-A591-71944F317FB0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AFA839ED-5753-4BD0-A591-71944F317FB0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4294967295"/>
          </p:nvPr>
        </p:nvSpPr>
        <p:spPr>
          <a:xfrm>
            <a:off x="685800" y="457200"/>
            <a:ext cx="8153400" cy="4495800"/>
          </a:xfrm>
        </p:spPr>
        <p:txBody>
          <a:bodyPr>
            <a:normAutofit/>
          </a:bodyPr>
          <a:lstStyle/>
          <a:p>
            <a:r>
              <a:rPr lang="en-US" dirty="0" smtClean="0"/>
              <a:t>It is based on RSA algorithm, which is one of most secure cryptography technique.</a:t>
            </a:r>
          </a:p>
          <a:p>
            <a:r>
              <a:rPr lang="en-US" dirty="0" smtClean="0"/>
              <a:t>Being </a:t>
            </a:r>
            <a:r>
              <a:rPr lang="en-US" dirty="0" smtClean="0"/>
              <a:t>b</a:t>
            </a:r>
            <a:r>
              <a:rPr lang="en-US" dirty="0" smtClean="0"/>
              <a:t>ased on RSA algorithm makes this application reliable.</a:t>
            </a:r>
          </a:p>
          <a:p>
            <a:r>
              <a:rPr lang="en-US" dirty="0" smtClean="0"/>
              <a:t>Moreover, ‘Encrypter’ is coded using JAVA technology which makes it platform independent and portable.</a:t>
            </a: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Algerian" pitchFamily="82" charset="0"/>
              </a:rPr>
              <a:t>RSA Algorithm</a:t>
            </a:r>
            <a:endParaRPr lang="en-US" b="1" dirty="0">
              <a:latin typeface="Algerian" pitchFamily="8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AFA839ED-5753-4BD0-A591-71944F317FB0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sz="2400" b="1" dirty="0" smtClean="0"/>
              <a:t>RSA</a:t>
            </a:r>
            <a:r>
              <a:rPr lang="en-US" sz="2400" dirty="0" smtClean="0"/>
              <a:t> is an algorithm for </a:t>
            </a:r>
            <a:r>
              <a:rPr lang="en-US" sz="2400" u="sng" dirty="0" smtClean="0"/>
              <a:t>public-key </a:t>
            </a:r>
            <a:r>
              <a:rPr lang="en-US" sz="2400" u="sng" dirty="0" smtClean="0"/>
              <a:t>cryptography.</a:t>
            </a:r>
          </a:p>
          <a:p>
            <a:r>
              <a:rPr lang="en-US" sz="2400" dirty="0" smtClean="0"/>
              <a:t>RSA stands for </a:t>
            </a:r>
            <a:r>
              <a:rPr lang="en-US" sz="2400" i="1" dirty="0" smtClean="0"/>
              <a:t>Ron Rivest, Adi Shamir and Leonard </a:t>
            </a:r>
            <a:r>
              <a:rPr lang="en-US" sz="2400" i="1" dirty="0" smtClean="0"/>
              <a:t>Adleman, </a:t>
            </a:r>
            <a:r>
              <a:rPr lang="en-US" sz="2400" dirty="0" smtClean="0"/>
              <a:t>who first publicly described the algorithm in </a:t>
            </a:r>
            <a:r>
              <a:rPr lang="en-US" sz="2400" i="1" dirty="0" smtClean="0"/>
              <a:t>1977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A user of RSA creates and then publishes the product of two large prime numbers, along with an auxiliary value, as their public key. </a:t>
            </a:r>
            <a:endParaRPr lang="en-US" sz="2400" dirty="0" smtClean="0"/>
          </a:p>
          <a:p>
            <a:r>
              <a:rPr lang="en-US" sz="2400" dirty="0" smtClean="0"/>
              <a:t>The </a:t>
            </a:r>
            <a:r>
              <a:rPr lang="en-US" sz="2400" dirty="0" smtClean="0"/>
              <a:t>prime factors must be kept secret. </a:t>
            </a:r>
            <a:endParaRPr lang="en-US" sz="2400" dirty="0" smtClean="0"/>
          </a:p>
          <a:p>
            <a:r>
              <a:rPr lang="en-US" sz="2400" dirty="0" smtClean="0"/>
              <a:t>Anyone </a:t>
            </a:r>
            <a:r>
              <a:rPr lang="en-US" sz="2400" dirty="0" smtClean="0"/>
              <a:t>can use the public key to encrypt a message, but with currently published methods, if the public key is large enough, only someone with knowledge of the prime factors can feasibly decode the message.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Algerian" pitchFamily="82" charset="0"/>
              </a:rPr>
              <a:t>Working of </a:t>
            </a:r>
            <a:r>
              <a:rPr lang="en-US" b="1" dirty="0" err="1" smtClean="0">
                <a:latin typeface="Algerian" pitchFamily="82" charset="0"/>
              </a:rPr>
              <a:t>rsa</a:t>
            </a:r>
            <a:endParaRPr lang="en-US" b="1" dirty="0">
              <a:latin typeface="Algerian" pitchFamily="8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AFA839ED-5753-4BD0-A591-71944F317FB0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455613" y="1754188"/>
            <a:ext cx="5030787" cy="457041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marL="320040" marR="0" lvl="0" indent="-320040" algn="l" defTabSz="914400" rtl="0" eaLnBrk="1" fontAlgn="auto" latinLnBrk="0" hangingPunct="1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2"/>
              </a:buClr>
              <a:buSzPct val="60000"/>
              <a:buFont typeface="Wingdings"/>
              <a:buChar char=""/>
              <a:tabLst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Select two large prime numbers 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</a:t>
            </a:r>
          </a:p>
          <a:p>
            <a:pPr marL="320040" marR="0" lvl="0" indent="-320040" algn="l" defTabSz="914400" rtl="0" eaLnBrk="1" fontAlgn="auto" latinLnBrk="0" hangingPunct="1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2"/>
              </a:buClr>
              <a:buSzPct val="60000"/>
              <a:buFont typeface="Wingdings"/>
              <a:buChar char=""/>
              <a:tabLst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Compute </a:t>
            </a:r>
            <a:b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= 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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b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= (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-1) 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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(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-1)</a:t>
            </a:r>
          </a:p>
          <a:p>
            <a:pPr marL="320040" marR="0" lvl="0" indent="-320040" algn="l" defTabSz="914400" rtl="0" eaLnBrk="1" fontAlgn="auto" latinLnBrk="0" hangingPunct="1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2"/>
              </a:buClr>
              <a:buSzPct val="60000"/>
              <a:buFont typeface="Wingdings"/>
              <a:buChar char=""/>
              <a:tabLst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Select small odd integer 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k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relatively prime to 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D80057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endParaRPr kumimoji="0" lang="en-US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914400" marR="0" lvl="2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gcd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k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 = 1</a:t>
            </a:r>
            <a:endParaRPr kumimoji="0" lang="en-US" sz="2400" b="0" i="0" u="none" strike="noStrike" kern="1200" cap="none" spc="0" normalizeH="0" baseline="0" noProof="0" dirty="0" smtClean="0">
              <a:ln>
                <a:noFill/>
              </a:ln>
              <a:solidFill>
                <a:srgbClr val="D80057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20040" marR="0" lvl="0" indent="-320040" algn="l" defTabSz="914400" rtl="0" eaLnBrk="1" fontAlgn="auto" latinLnBrk="0" hangingPunct="1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2"/>
              </a:buClr>
              <a:buSzPct val="60000"/>
              <a:buFont typeface="Wingdings"/>
              <a:buChar char=""/>
              <a:tabLst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Compute 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such that</a:t>
            </a:r>
            <a:b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(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 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k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)%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= (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k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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)%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= 1</a:t>
            </a:r>
          </a:p>
          <a:p>
            <a:pPr marL="320040" marR="0" lvl="0" indent="-320040" algn="l" defTabSz="914400" rtl="0" eaLnBrk="1" fontAlgn="auto" latinLnBrk="0" hangingPunct="1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2"/>
              </a:buClr>
              <a:buSzPct val="60000"/>
              <a:buFont typeface="Wingdings"/>
              <a:buChar char=""/>
              <a:tabLst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Public key is (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k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</a:t>
            </a:r>
          </a:p>
          <a:p>
            <a:pPr marL="320040" marR="0" lvl="0" indent="-320040" algn="l" defTabSz="914400" rtl="0" eaLnBrk="1" fontAlgn="auto" latinLnBrk="0" hangingPunct="1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2"/>
              </a:buClr>
              <a:buSzPct val="60000"/>
              <a:buFont typeface="Wingdings"/>
              <a:buChar char=""/>
              <a:tabLst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Private key is (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Rectangle 4"/>
          <p:cNvSpPr txBox="1">
            <a:spLocks noChangeArrowheads="1"/>
          </p:cNvSpPr>
          <p:nvPr/>
        </p:nvSpPr>
        <p:spPr>
          <a:xfrm>
            <a:off x="6021388" y="1752600"/>
            <a:ext cx="2663825" cy="4570412"/>
          </a:xfrm>
          <a:prstGeom prst="rect">
            <a:avLst/>
          </a:prstGeom>
          <a:ln w="28575">
            <a:solidFill>
              <a:srgbClr val="906481"/>
            </a:solidFill>
          </a:ln>
        </p:spPr>
        <p:txBody>
          <a:bodyPr/>
          <a:lstStyle/>
          <a:p>
            <a:pPr marL="320040" marR="0" lvl="0" indent="-320040" algn="l" defTabSz="914400" rtl="0" eaLnBrk="1" fontAlgn="auto" latinLnBrk="0" hangingPunct="1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2"/>
              </a:buClr>
              <a:buSzPct val="60000"/>
              <a:buFont typeface="Wingdings"/>
              <a:buChar char=""/>
              <a:tabLst/>
              <a:defRPr/>
            </a:pPr>
            <a:r>
              <a:rPr kumimoji="0" 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example</a:t>
            </a:r>
          </a:p>
          <a:p>
            <a:pPr marL="914400" marR="0" lvl="2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 = 11</a:t>
            </a:r>
          </a:p>
          <a:p>
            <a:pPr marL="914400" marR="0" lvl="2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 = 29</a:t>
            </a:r>
          </a:p>
          <a:p>
            <a:pPr marL="914400" marR="0" lvl="2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 = 319</a:t>
            </a:r>
          </a:p>
          <a:p>
            <a:pPr marL="914400" marR="0" lvl="2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 = 280</a:t>
            </a:r>
          </a:p>
          <a:p>
            <a:pPr marL="914400" marR="0" lvl="2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k = 3</a:t>
            </a:r>
          </a:p>
          <a:p>
            <a:pPr marL="914400" marR="0" lvl="2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 = 187</a:t>
            </a:r>
          </a:p>
          <a:p>
            <a:pPr marL="320040" marR="0" lvl="0" indent="-320040" algn="l" defTabSz="914400" rtl="0" eaLnBrk="1" fontAlgn="auto" latinLnBrk="0" hangingPunct="1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2"/>
              </a:buClr>
              <a:buSzPct val="60000"/>
              <a:buFont typeface="Wingdings"/>
              <a:buChar char=""/>
              <a:tabLst/>
              <a:defRPr/>
            </a:pPr>
            <a:r>
              <a:rPr kumimoji="0" 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public key</a:t>
            </a:r>
          </a:p>
          <a:p>
            <a:pPr marL="914400" marR="0" lvl="2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0" 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</a:t>
            </a:r>
            <a:r>
              <a:rPr kumimoji="0" 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</a:t>
            </a:r>
            <a:r>
              <a:rPr kumimoji="0" 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319</a:t>
            </a:r>
            <a:r>
              <a:rPr kumimoji="0" 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</a:t>
            </a:r>
          </a:p>
          <a:p>
            <a:pPr marL="320040" marR="0" lvl="0" indent="-320040" algn="l" defTabSz="914400" rtl="0" eaLnBrk="1" fontAlgn="auto" latinLnBrk="0" hangingPunct="1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accent2"/>
              </a:buClr>
              <a:buSzPct val="60000"/>
              <a:buFont typeface="Wingdings"/>
              <a:buChar char=""/>
              <a:tabLst/>
              <a:defRPr/>
            </a:pPr>
            <a:r>
              <a:rPr kumimoji="0" 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private key</a:t>
            </a:r>
          </a:p>
          <a:p>
            <a:pPr marL="914400" marR="0" lvl="2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0" 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187</a:t>
            </a:r>
            <a:r>
              <a:rPr kumimoji="0" 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</a:t>
            </a:r>
            <a:r>
              <a:rPr kumimoji="0" 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319</a:t>
            </a:r>
            <a:r>
              <a:rPr kumimoji="0" 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Algerian" pitchFamily="82" charset="0"/>
              </a:rPr>
              <a:t>Modules</a:t>
            </a:r>
            <a:endParaRPr lang="en-US" b="1" dirty="0">
              <a:latin typeface="Algerian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Font typeface="Wingdings" pitchFamily="2" charset="2"/>
              <a:buChar char="q"/>
            </a:pPr>
            <a:r>
              <a:rPr lang="en-US" dirty="0" smtClean="0"/>
              <a:t>Welcome</a:t>
            </a:r>
          </a:p>
          <a:p>
            <a:pPr>
              <a:buFont typeface="Wingdings" pitchFamily="2" charset="2"/>
              <a:buChar char="q"/>
            </a:pPr>
            <a:r>
              <a:rPr lang="en-US" dirty="0" smtClean="0"/>
              <a:t>Generate</a:t>
            </a:r>
          </a:p>
          <a:p>
            <a:pPr>
              <a:buFont typeface="Wingdings" pitchFamily="2" charset="2"/>
              <a:buChar char="q"/>
            </a:pPr>
            <a:r>
              <a:rPr lang="en-US" dirty="0" smtClean="0"/>
              <a:t>Encrypt</a:t>
            </a:r>
          </a:p>
          <a:p>
            <a:pPr>
              <a:buFont typeface="Wingdings" pitchFamily="2" charset="2"/>
              <a:buChar char="q"/>
            </a:pPr>
            <a:r>
              <a:rPr lang="en-US" dirty="0" smtClean="0"/>
              <a:t>Decrypt</a:t>
            </a:r>
          </a:p>
          <a:p>
            <a:pPr>
              <a:buFont typeface="Wingdings" pitchFamily="2" charset="2"/>
              <a:buChar char="q"/>
            </a:pPr>
            <a:r>
              <a:rPr lang="en-US" dirty="0" smtClean="0"/>
              <a:t>Help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AFA839ED-5753-4BD0-A591-71944F317FB0}" type="slidenum">
              <a:rPr lang="en-US" smtClean="0"/>
              <a:pPr/>
              <a:t>8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Algerian" pitchFamily="82" charset="0"/>
              </a:rPr>
              <a:t>Welcome</a:t>
            </a:r>
            <a:r>
              <a:rPr lang="en-US" b="1" dirty="0" smtClean="0">
                <a:latin typeface="Algerian" pitchFamily="82" charset="0"/>
              </a:rPr>
              <a:t> </a:t>
            </a:r>
            <a:r>
              <a:rPr lang="en-US" b="1" dirty="0" smtClean="0">
                <a:latin typeface="Algerian" pitchFamily="82" charset="0"/>
              </a:rPr>
              <a:t>Module</a:t>
            </a:r>
            <a:endParaRPr lang="en-IN" b="1" dirty="0">
              <a:latin typeface="Algerian" pitchFamily="82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AFA839ED-5753-4BD0-A591-71944F317FB0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Font typeface="Wingdings" pitchFamily="2" charset="2"/>
              <a:buChar char="q"/>
            </a:pPr>
            <a:r>
              <a:rPr lang="en-US" dirty="0" smtClean="0"/>
              <a:t>From this module the user can choose the option according the task he wants to perform.</a:t>
            </a:r>
            <a:endParaRPr lang="en-US" dirty="0" smtClean="0"/>
          </a:p>
        </p:txBody>
      </p:sp>
      <p:pic>
        <p:nvPicPr>
          <p:cNvPr id="1026" name="Picture 2" descr="C:\Users\maxx\Desktop\project\help\img\welcome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52600" y="2667000"/>
            <a:ext cx="6002337" cy="352425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Algerian" pitchFamily="82" charset="0"/>
              </a:rPr>
              <a:t>Generate</a:t>
            </a:r>
            <a:r>
              <a:rPr lang="en-US" b="1" dirty="0" smtClean="0">
                <a:latin typeface="Algerian" pitchFamily="82" charset="0"/>
              </a:rPr>
              <a:t> </a:t>
            </a:r>
            <a:r>
              <a:rPr lang="en-US" b="1" dirty="0" smtClean="0">
                <a:latin typeface="Algerian" pitchFamily="82" charset="0"/>
              </a:rPr>
              <a:t>module</a:t>
            </a:r>
            <a:endParaRPr lang="en-IN" b="1" dirty="0">
              <a:latin typeface="Algerian" pitchFamily="82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AFA839ED-5753-4BD0-A591-71944F317FB0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Font typeface="Wingdings" pitchFamily="2" charset="2"/>
              <a:buChar char="q"/>
            </a:pPr>
            <a:r>
              <a:rPr lang="en-US" dirty="0" smtClean="0"/>
              <a:t>From this module the user can generate ‘</a:t>
            </a:r>
            <a:r>
              <a:rPr lang="en-US" i="1" dirty="0" smtClean="0"/>
              <a:t>Public keys</a:t>
            </a:r>
            <a:r>
              <a:rPr lang="en-US" dirty="0" smtClean="0"/>
              <a:t>’ &amp; ‘</a:t>
            </a:r>
            <a:r>
              <a:rPr lang="en-US" i="1" dirty="0" smtClean="0"/>
              <a:t>Private Keys</a:t>
            </a:r>
            <a:r>
              <a:rPr lang="en-US" dirty="0" smtClean="0"/>
              <a:t>’</a:t>
            </a:r>
            <a:endParaRPr lang="en-IN" dirty="0"/>
          </a:p>
        </p:txBody>
      </p:sp>
      <p:pic>
        <p:nvPicPr>
          <p:cNvPr id="2050" name="Picture 2" descr="C:\Users\maxx\Desktop\project\help\img\gen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4000" y="2743200"/>
            <a:ext cx="6100763" cy="3487737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Algerian" pitchFamily="82" charset="0"/>
              </a:rPr>
              <a:t>Encrypt</a:t>
            </a:r>
            <a:r>
              <a:rPr lang="en-US" b="1" dirty="0" smtClean="0">
                <a:latin typeface="Algerian" pitchFamily="82" charset="0"/>
              </a:rPr>
              <a:t> </a:t>
            </a:r>
            <a:r>
              <a:rPr lang="en-US" b="1" dirty="0" smtClean="0">
                <a:latin typeface="Algerian" pitchFamily="82" charset="0"/>
              </a:rPr>
              <a:t>module</a:t>
            </a:r>
            <a:endParaRPr lang="en-IN" b="1" dirty="0">
              <a:latin typeface="Algerian" pitchFamily="82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AFA839ED-5753-4BD0-A591-71944F317FB0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Font typeface="Wingdings" pitchFamily="2" charset="2"/>
              <a:buChar char="q"/>
            </a:pPr>
            <a:r>
              <a:rPr lang="en-US" dirty="0" smtClean="0"/>
              <a:t>From this module the user can encrypt the text message.</a:t>
            </a:r>
            <a:endParaRPr lang="en-US" dirty="0" smtClean="0"/>
          </a:p>
        </p:txBody>
      </p:sp>
      <p:pic>
        <p:nvPicPr>
          <p:cNvPr id="3074" name="Picture 2" descr="C:\Users\maxx\Desktop\project\help\img\enc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4000" y="2819400"/>
            <a:ext cx="6099175" cy="3459163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Algerian" pitchFamily="82" charset="0"/>
              </a:rPr>
              <a:t>Decrypt</a:t>
            </a:r>
            <a:r>
              <a:rPr lang="en-US" b="1" dirty="0" smtClean="0">
                <a:latin typeface="Algerian" pitchFamily="82" charset="0"/>
              </a:rPr>
              <a:t> </a:t>
            </a:r>
            <a:r>
              <a:rPr lang="en-US" b="1" dirty="0" smtClean="0">
                <a:latin typeface="Algerian" pitchFamily="82" charset="0"/>
              </a:rPr>
              <a:t>module</a:t>
            </a:r>
            <a:endParaRPr lang="en-US" b="1" dirty="0">
              <a:latin typeface="Algerian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From </a:t>
            </a:r>
            <a:r>
              <a:rPr lang="en-US" dirty="0" smtClean="0"/>
              <a:t>this module the user can decrypt the encrypted text message.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AFA839ED-5753-4BD0-A591-71944F317FB0}" type="slidenum">
              <a:rPr lang="en-US" smtClean="0"/>
              <a:pPr/>
              <a:t>12</a:t>
            </a:fld>
            <a:endParaRPr lang="en-US" dirty="0"/>
          </a:p>
        </p:txBody>
      </p:sp>
      <p:pic>
        <p:nvPicPr>
          <p:cNvPr id="4098" name="Picture 2" descr="C:\Users\maxx\Desktop\project\help\img\dec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47800" y="2667000"/>
            <a:ext cx="6099175" cy="3525837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Algerian" pitchFamily="82" charset="0"/>
              </a:rPr>
              <a:t>help</a:t>
            </a:r>
            <a:r>
              <a:rPr lang="en-US" b="1" dirty="0" smtClean="0">
                <a:latin typeface="Algerian" pitchFamily="82" charset="0"/>
              </a:rPr>
              <a:t> </a:t>
            </a:r>
            <a:r>
              <a:rPr lang="en-US" b="1" dirty="0" smtClean="0">
                <a:latin typeface="Algerian" pitchFamily="82" charset="0"/>
              </a:rPr>
              <a:t>module</a:t>
            </a:r>
            <a:endParaRPr lang="en-US" b="1" dirty="0">
              <a:latin typeface="Algerian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From </a:t>
            </a:r>
            <a:r>
              <a:rPr lang="en-US" dirty="0" smtClean="0"/>
              <a:t>this the user can know more about the application &amp; help on how to use the application.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AFA839ED-5753-4BD0-A591-71944F317FB0}" type="slidenum">
              <a:rPr lang="en-US" smtClean="0"/>
              <a:pPr/>
              <a:t>13</a:t>
            </a:fld>
            <a:endParaRPr 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71600" y="2667000"/>
            <a:ext cx="6776641" cy="381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Algerian" pitchFamily="82" charset="0"/>
              </a:rPr>
              <a:t>Data flow diagram</a:t>
            </a:r>
            <a:endParaRPr lang="en-US" b="1" dirty="0">
              <a:latin typeface="Algerian" pitchFamily="8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AFA839ED-5753-4BD0-A591-71944F317FB0}" type="slidenum">
              <a:rPr lang="en-US" smtClean="0"/>
              <a:pPr/>
              <a:t>14</a:t>
            </a:fld>
            <a:endParaRPr lang="en-US" dirty="0"/>
          </a:p>
        </p:txBody>
      </p:sp>
      <p:pic>
        <p:nvPicPr>
          <p:cNvPr id="7" name="Content Placeholder 6" descr="scan1.jpg"/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990600" y="1828800"/>
            <a:ext cx="7054469" cy="427771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Algerian" pitchFamily="82" charset="0"/>
              </a:rPr>
              <a:t>ER diagram</a:t>
            </a:r>
            <a:endParaRPr lang="en-US" b="1" dirty="0">
              <a:latin typeface="Algerian" pitchFamily="82" charset="0"/>
            </a:endParaRPr>
          </a:p>
        </p:txBody>
      </p:sp>
      <p:pic>
        <p:nvPicPr>
          <p:cNvPr id="5" name="Content Placeholder 4" descr="scan2.jpg"/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990600" y="1905000"/>
            <a:ext cx="7098031" cy="35052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AFA839ED-5753-4BD0-A591-71944F317FB0}" type="slidenum">
              <a:rPr lang="en-US" smtClean="0"/>
              <a:pPr/>
              <a:t>15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Algerian" pitchFamily="82" charset="0"/>
              </a:rPr>
              <a:t>System requirements</a:t>
            </a:r>
            <a:endParaRPr lang="en-US" b="1" dirty="0">
              <a:latin typeface="Algerian" pitchFamily="82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 smtClean="0"/>
              <a:t>RAM – 512MB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Free HDD space – 100MB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Working Internet Connection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HTML5 and CSS3 compatible Web Browser</a:t>
            </a:r>
          </a:p>
          <a:p>
            <a:pPr marL="514350" indent="-51435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AFA839ED-5753-4BD0-A591-71944F317FB0}" type="slidenum">
              <a:rPr lang="en-US" smtClean="0"/>
              <a:pPr/>
              <a:t>16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Algerian" pitchFamily="82" charset="0"/>
              </a:rPr>
              <a:t>Technologies used</a:t>
            </a:r>
            <a:endParaRPr lang="en-US" b="1" dirty="0">
              <a:latin typeface="Algerian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7772400" cy="4572000"/>
          </a:xfrm>
        </p:spPr>
        <p:txBody>
          <a:bodyPr>
            <a:normAutofit/>
          </a:bodyPr>
          <a:lstStyle/>
          <a:p>
            <a:r>
              <a:rPr lang="en-US" sz="2400" dirty="0" smtClean="0"/>
              <a:t>JAVA</a:t>
            </a:r>
          </a:p>
          <a:p>
            <a:r>
              <a:rPr lang="en-US" sz="2400" dirty="0" smtClean="0"/>
              <a:t>HTML 5</a:t>
            </a:r>
          </a:p>
          <a:p>
            <a:r>
              <a:rPr lang="en-US" sz="2400" dirty="0" smtClean="0"/>
              <a:t>CSS 3</a:t>
            </a:r>
            <a:endParaRPr lang="en-US" sz="2400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6"/>
          </p:nvPr>
        </p:nvSpPr>
        <p:spPr/>
        <p:txBody>
          <a:bodyPr>
            <a:normAutofit fontScale="85000" lnSpcReduction="20000"/>
          </a:bodyPr>
          <a:lstStyle/>
          <a:p>
            <a:fld id="{AFA839ED-5753-4BD0-A591-71944F317FB0}" type="slidenum">
              <a:rPr lang="en-US" smtClean="0"/>
              <a:pPr/>
              <a:t>17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Algerian" pitchFamily="82" charset="0"/>
              </a:rPr>
              <a:t>conclusion</a:t>
            </a:r>
            <a:endParaRPr lang="en-US" b="1" dirty="0">
              <a:latin typeface="Algerian" pitchFamily="82" charset="0"/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lang="en-US" sz="2400" dirty="0" smtClean="0"/>
              <a:t>Computer has clearly got advantage over the manual system. The computerized system is more reliable, efficient, cheap and fast. </a:t>
            </a:r>
          </a:p>
          <a:p>
            <a:pPr>
              <a:buFont typeface="Wingdings" pitchFamily="2" charset="2"/>
              <a:buChar char="q"/>
            </a:pPr>
            <a:endParaRPr lang="en-US" sz="2400" dirty="0" smtClean="0"/>
          </a:p>
          <a:p>
            <a:pPr>
              <a:buFont typeface="Wingdings" pitchFamily="2" charset="2"/>
              <a:buChar char="q"/>
            </a:pPr>
            <a:r>
              <a:rPr lang="en-US" sz="2400" dirty="0" smtClean="0"/>
              <a:t>At </a:t>
            </a:r>
            <a:r>
              <a:rPr lang="en-US" sz="2400" dirty="0" smtClean="0"/>
              <a:t>the end of the project, we can say that computer plays a very crucial role in the sharing of </a:t>
            </a:r>
            <a:r>
              <a:rPr lang="en-US" sz="2400" dirty="0" smtClean="0"/>
              <a:t>information</a:t>
            </a:r>
            <a:r>
              <a:rPr lang="en-US" sz="2400" dirty="0" smtClean="0"/>
              <a:t>. </a:t>
            </a:r>
            <a:r>
              <a:rPr lang="en-US" sz="2400" dirty="0" smtClean="0"/>
              <a:t>As computer is used in every field so it provides comfort and suitability to everyone. Providing </a:t>
            </a:r>
            <a:r>
              <a:rPr lang="en-US" sz="2400" dirty="0" smtClean="0"/>
              <a:t>maximum reliability, security and comfort </a:t>
            </a:r>
            <a:r>
              <a:rPr lang="en-US" sz="2400" dirty="0" smtClean="0"/>
              <a:t>to the users is the main goal of this </a:t>
            </a:r>
            <a:r>
              <a:rPr lang="en-US" sz="2400" dirty="0" smtClean="0"/>
              <a:t>project</a:t>
            </a:r>
            <a:r>
              <a:rPr lang="en-US" sz="2400" dirty="0" smtClean="0"/>
              <a:t>.</a:t>
            </a:r>
            <a:endParaRPr lang="en-US" sz="2400" dirty="0" smtClean="0"/>
          </a:p>
          <a:p>
            <a:pPr>
              <a:buFont typeface="Wingdings" pitchFamily="2" charset="2"/>
              <a:buChar char="q"/>
            </a:pP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AFA839ED-5753-4BD0-A591-71944F317FB0}" type="slidenum">
              <a:rPr lang="en-US" smtClean="0"/>
              <a:pPr/>
              <a:t>18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 smtClean="0">
                <a:latin typeface="Algerian" pitchFamily="82" charset="0"/>
              </a:rPr>
              <a:t>refrences</a:t>
            </a:r>
            <a:endParaRPr lang="en-US" b="1" dirty="0">
              <a:latin typeface="Algerian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sz="2000" b="1" dirty="0" smtClean="0"/>
              <a:t>Book :</a:t>
            </a:r>
          </a:p>
          <a:p>
            <a:pPr marL="777240" lvl="1" indent="-457200">
              <a:buFont typeface="+mj-lt"/>
              <a:buAutoNum type="arabicPeriod"/>
            </a:pPr>
            <a:r>
              <a:rPr lang="en-US" sz="2000" dirty="0" smtClean="0"/>
              <a:t>Herbert Schildt, JAVA</a:t>
            </a:r>
            <a:r>
              <a:rPr lang="en-US" sz="2000" baseline="30000" dirty="0" smtClean="0"/>
              <a:t>TM</a:t>
            </a:r>
            <a:r>
              <a:rPr lang="en-US" sz="2000" dirty="0" smtClean="0"/>
              <a:t> : The Complete Reference, TATA McGraw-HILL,  Seventh Edition.</a:t>
            </a:r>
          </a:p>
          <a:p>
            <a:pPr marL="457200" indent="-457200"/>
            <a:r>
              <a:rPr lang="en-US" sz="2000" b="1" dirty="0" smtClean="0"/>
              <a:t>Websites :</a:t>
            </a:r>
          </a:p>
          <a:p>
            <a:pPr marL="777240" lvl="1" indent="-457200">
              <a:buFont typeface="+mj-lt"/>
              <a:buAutoNum type="arabicPeriod"/>
            </a:pPr>
            <a:r>
              <a:rPr lang="en-US" sz="2000" dirty="0" smtClean="0">
                <a:hlinkClick r:id="rId2"/>
              </a:rPr>
              <a:t>http://en.wikipedia.org/wiki/RSA_(algorithm)</a:t>
            </a:r>
            <a:endParaRPr lang="en-US" sz="2000" dirty="0" smtClean="0">
              <a:hlinkClick r:id="rId3"/>
            </a:endParaRPr>
          </a:p>
          <a:p>
            <a:pPr marL="777240" lvl="1" indent="-457200">
              <a:buFont typeface="+mj-lt"/>
              <a:buAutoNum type="arabicPeriod"/>
            </a:pPr>
            <a:r>
              <a:rPr lang="en-US" sz="2000" dirty="0" smtClean="0">
                <a:hlinkClick r:id="rId4"/>
              </a:rPr>
              <a:t>www.stackoverflow.com</a:t>
            </a:r>
            <a:endParaRPr lang="en-US" sz="2000" dirty="0" smtClean="0"/>
          </a:p>
          <a:p>
            <a:pPr marL="777240" lvl="1" indent="-457200">
              <a:buFont typeface="+mj-lt"/>
              <a:buAutoNum type="arabicPeriod"/>
            </a:pPr>
            <a:r>
              <a:rPr lang="en-US" sz="2000" dirty="0" smtClean="0">
                <a:hlinkClick r:id="rId3"/>
              </a:rPr>
              <a:t>www.w3schools.com</a:t>
            </a:r>
            <a:endParaRPr lang="en-US" sz="2000" dirty="0" smtClean="0"/>
          </a:p>
          <a:p>
            <a:pPr marL="777240" lvl="1" indent="-457200">
              <a:buFont typeface="+mj-lt"/>
              <a:buAutoNum type="arabicPeriod"/>
            </a:pPr>
            <a:endParaRPr lang="en-US" sz="2000" dirty="0" smtClean="0"/>
          </a:p>
          <a:p>
            <a:pPr marL="777240" lvl="1" indent="-457200">
              <a:buFont typeface="+mj-lt"/>
              <a:buAutoNum type="arabicPeriod"/>
            </a:pPr>
            <a:endParaRPr lang="en-US" sz="2000" dirty="0" smtClean="0"/>
          </a:p>
          <a:p>
            <a:pPr lvl="0">
              <a:buNone/>
            </a:pPr>
            <a:endParaRPr lang="en-US" sz="20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AFA839ED-5753-4BD0-A591-71944F317FB0}" type="slidenum">
              <a:rPr lang="en-US" smtClean="0"/>
              <a:pPr/>
              <a:t>19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057400" y="2971800"/>
            <a:ext cx="497661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Any Questions?</a:t>
            </a:r>
            <a:endParaRPr lang="en-US" sz="5400" b="1" cap="none" spc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839ED-5753-4BD0-A591-71944F317FB0}" type="slidenum">
              <a:rPr lang="en-US" smtClean="0"/>
              <a:pPr/>
              <a:t>20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819400" y="2971800"/>
            <a:ext cx="320113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Thank You</a:t>
            </a:r>
            <a:endParaRPr lang="en-US" sz="5400" b="1" cap="none" spc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839ED-5753-4BD0-A591-71944F317FB0}" type="slidenum">
              <a:rPr lang="en-US" smtClean="0"/>
              <a:pPr/>
              <a:t>21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dian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Median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178</TotalTime>
  <Words>480</Words>
  <Application>Microsoft Office PowerPoint</Application>
  <PresentationFormat>On-screen Show (4:3)</PresentationFormat>
  <Paragraphs>123</Paragraphs>
  <Slides>21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Median</vt:lpstr>
      <vt:lpstr>A PROJECT 0N</vt:lpstr>
      <vt:lpstr>content</vt:lpstr>
      <vt:lpstr>AIM</vt:lpstr>
      <vt:lpstr>Introduction</vt:lpstr>
      <vt:lpstr>Slide 5</vt:lpstr>
      <vt:lpstr>RSA Algorithm</vt:lpstr>
      <vt:lpstr>Working of rsa</vt:lpstr>
      <vt:lpstr>Modules</vt:lpstr>
      <vt:lpstr>Welcome Module</vt:lpstr>
      <vt:lpstr>Generate module</vt:lpstr>
      <vt:lpstr>Encrypt module</vt:lpstr>
      <vt:lpstr>Decrypt module</vt:lpstr>
      <vt:lpstr>help module</vt:lpstr>
      <vt:lpstr>Data flow diagram</vt:lpstr>
      <vt:lpstr>ER diagram</vt:lpstr>
      <vt:lpstr>System requirements</vt:lpstr>
      <vt:lpstr>Technologies used</vt:lpstr>
      <vt:lpstr>conclusion</vt:lpstr>
      <vt:lpstr>refrences</vt:lpstr>
      <vt:lpstr>Slide 20</vt:lpstr>
      <vt:lpstr>Slide 21</vt:lpstr>
    </vt:vector>
  </TitlesOfParts>
  <Company>home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maax</dc:creator>
  <cp:lastModifiedBy>maxx</cp:lastModifiedBy>
  <cp:revision>84</cp:revision>
  <dcterms:created xsi:type="dcterms:W3CDTF">2013-03-06T15:15:41Z</dcterms:created>
  <dcterms:modified xsi:type="dcterms:W3CDTF">2013-08-16T08:51:06Z</dcterms:modified>
</cp:coreProperties>
</file>